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05"/>
    <p:restoredTop sz="94718"/>
  </p:normalViewPr>
  <p:slideViewPr>
    <p:cSldViewPr snapToGrid="0" snapToObjects="1">
      <p:cViewPr varScale="1">
        <p:scale>
          <a:sx n="68" d="100"/>
          <a:sy n="68" d="100"/>
        </p:scale>
        <p:origin x="216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562CC-1EA6-4843-8B15-5FBF1E759495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11043-763D-AB4A-BC2D-72988E54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11043-763D-AB4A-BC2D-72988E5495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5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C9034F-59A6-6C21-EE86-2B904CA34A9B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F0B77-A2C7-D11C-68D4-EA8C3C5630FE}"/>
              </a:ext>
            </a:extLst>
          </p:cNvPr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40713-FD42-6F69-B568-941A53BDCA7C}"/>
              </a:ext>
            </a:extLst>
          </p:cNvPr>
          <p:cNvSpPr txBox="1"/>
          <p:nvPr/>
        </p:nvSpPr>
        <p:spPr>
          <a:xfrm>
            <a:off x="658368" y="8229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5DDC1"/>
                </a:solidFill>
                <a:latin typeface="Aptos"/>
              </a:defRPr>
            </a:pPr>
            <a:r>
              <a:rPr dirty="0">
                <a:solidFill>
                  <a:srgbClr val="192332"/>
                </a:solidFill>
              </a:rPr>
              <a:t>DEEP LEARNING • MEDICAL IMAGE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3AB81-B664-575F-AAA2-C27352F5DD60}"/>
              </a:ext>
            </a:extLst>
          </p:cNvPr>
          <p:cNvSpPr txBox="1"/>
          <p:nvPr/>
        </p:nvSpPr>
        <p:spPr>
          <a:xfrm>
            <a:off x="658368" y="1234440"/>
            <a:ext cx="987655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4F8FC"/>
                </a:solidFill>
                <a:latin typeface="Aptos Display"/>
              </a:defRPr>
            </a:pPr>
            <a:r>
              <a:rPr dirty="0">
                <a:solidFill>
                  <a:srgbClr val="192332"/>
                </a:solidFill>
              </a:rPr>
              <a:t>Brain Tumor MRI</a:t>
            </a:r>
            <a:br>
              <a:rPr dirty="0"/>
            </a:br>
            <a:r>
              <a:rPr dirty="0">
                <a:solidFill>
                  <a:srgbClr val="192332"/>
                </a:solidFill>
              </a:rPr>
              <a:t>Classification, Segmentation &amp; XAI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F806F38-8844-56F4-1CEC-04C032228B04}"/>
              </a:ext>
            </a:extLst>
          </p:cNvPr>
          <p:cNvSpPr/>
          <p:nvPr/>
        </p:nvSpPr>
        <p:spPr>
          <a:xfrm>
            <a:off x="6858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F5F400-05E6-E18A-77D5-4D902644B44D}"/>
              </a:ext>
            </a:extLst>
          </p:cNvPr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295F71-B04E-4B8E-7D88-C2D36BDA1BFB}"/>
              </a:ext>
            </a:extLst>
          </p:cNvPr>
          <p:cNvSpPr txBox="1"/>
          <p:nvPr/>
        </p:nvSpPr>
        <p:spPr>
          <a:xfrm>
            <a:off x="8229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B9EAA5-6AF2-40FA-FB15-15DF283C2DA3}"/>
              </a:ext>
            </a:extLst>
          </p:cNvPr>
          <p:cNvSpPr txBox="1"/>
          <p:nvPr/>
        </p:nvSpPr>
        <p:spPr>
          <a:xfrm>
            <a:off x="1307592" y="4224528"/>
            <a:ext cx="15819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Purnima Roy</a:t>
            </a:r>
          </a:p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endParaRPr dirty="0">
              <a:solidFill>
                <a:srgbClr val="19233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2444C0-54A0-D983-0420-8B41A8C9F022}"/>
              </a:ext>
            </a:extLst>
          </p:cNvPr>
          <p:cNvSpPr txBox="1"/>
          <p:nvPr/>
        </p:nvSpPr>
        <p:spPr>
          <a:xfrm>
            <a:off x="979956" y="4692675"/>
            <a:ext cx="2386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ID:0182320012101318</a:t>
            </a:r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5B527C9-85F1-0EF1-CE9D-91DCBFA972CC}"/>
              </a:ext>
            </a:extLst>
          </p:cNvPr>
          <p:cNvSpPr/>
          <p:nvPr/>
        </p:nvSpPr>
        <p:spPr>
          <a:xfrm>
            <a:off x="34290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28ED55-E500-F053-32F6-896F1BD07FCC}"/>
              </a:ext>
            </a:extLst>
          </p:cNvPr>
          <p:cNvSpPr/>
          <p:nvPr/>
        </p:nvSpPr>
        <p:spPr>
          <a:xfrm>
            <a:off x="3566160" y="423367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067439-6D06-EFCC-BC83-F5241A818C7A}"/>
              </a:ext>
            </a:extLst>
          </p:cNvPr>
          <p:cNvSpPr txBox="1"/>
          <p:nvPr/>
        </p:nvSpPr>
        <p:spPr>
          <a:xfrm>
            <a:off x="35661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C35CFC-9E20-2F31-9313-BF171EB9D822}"/>
              </a:ext>
            </a:extLst>
          </p:cNvPr>
          <p:cNvSpPr txBox="1"/>
          <p:nvPr/>
        </p:nvSpPr>
        <p:spPr>
          <a:xfrm>
            <a:off x="4050791" y="4224528"/>
            <a:ext cx="1581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8FC"/>
                </a:solidFill>
                <a:latin typeface="Aptos"/>
              </a:defRPr>
            </a:pPr>
            <a:r>
              <a:rPr lang="en-US" sz="1200" dirty="0">
                <a:latin typeface="Aptos"/>
              </a:rPr>
              <a:t>Samian Hussain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6DDA6B5-D19A-A47F-94FE-933B010DD92F}"/>
              </a:ext>
            </a:extLst>
          </p:cNvPr>
          <p:cNvSpPr/>
          <p:nvPr/>
        </p:nvSpPr>
        <p:spPr>
          <a:xfrm>
            <a:off x="61722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5AD2C9-A033-E28A-F2A2-63996A2E1684}"/>
              </a:ext>
            </a:extLst>
          </p:cNvPr>
          <p:cNvSpPr/>
          <p:nvPr/>
        </p:nvSpPr>
        <p:spPr>
          <a:xfrm>
            <a:off x="6309360" y="423367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7D040E-A321-1EC6-9970-277A0CDE6E3D}"/>
              </a:ext>
            </a:extLst>
          </p:cNvPr>
          <p:cNvSpPr txBox="1"/>
          <p:nvPr/>
        </p:nvSpPr>
        <p:spPr>
          <a:xfrm>
            <a:off x="63093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A2A105-9091-A2FD-C652-EAF84EF258C3}"/>
              </a:ext>
            </a:extLst>
          </p:cNvPr>
          <p:cNvSpPr txBox="1"/>
          <p:nvPr/>
        </p:nvSpPr>
        <p:spPr>
          <a:xfrm>
            <a:off x="6693408" y="4259764"/>
            <a:ext cx="18105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 lang="en-US" sz="1600" dirty="0" err="1">
                <a:solidFill>
                  <a:srgbClr val="192332"/>
                </a:solidFill>
              </a:rPr>
              <a:t>Rasidul</a:t>
            </a:r>
            <a:r>
              <a:rPr lang="en-US" sz="1600" dirty="0">
                <a:solidFill>
                  <a:srgbClr val="192332"/>
                </a:solidFill>
              </a:rPr>
              <a:t> </a:t>
            </a:r>
            <a:r>
              <a:rPr lang="en-US" sz="1600" dirty="0" err="1">
                <a:solidFill>
                  <a:srgbClr val="192332"/>
                </a:solidFill>
              </a:rPr>
              <a:t>houque</a:t>
            </a:r>
            <a:r>
              <a:rPr lang="en-US" sz="1600" dirty="0">
                <a:solidFill>
                  <a:srgbClr val="192332"/>
                </a:solidFill>
              </a:rPr>
              <a:t> </a:t>
            </a:r>
            <a:endParaRPr sz="1600" dirty="0">
              <a:solidFill>
                <a:srgbClr val="192332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A5360D7-A107-DA45-4B3F-2F320D855C31}"/>
              </a:ext>
            </a:extLst>
          </p:cNvPr>
          <p:cNvSpPr/>
          <p:nvPr/>
        </p:nvSpPr>
        <p:spPr>
          <a:xfrm>
            <a:off x="89154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32CC29-B244-2D0F-1D2D-51A002CA2E43}"/>
              </a:ext>
            </a:extLst>
          </p:cNvPr>
          <p:cNvSpPr/>
          <p:nvPr/>
        </p:nvSpPr>
        <p:spPr>
          <a:xfrm>
            <a:off x="9052560" y="423367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C0E8A1-2D3C-CA9C-EE08-853BADC6DC97}"/>
              </a:ext>
            </a:extLst>
          </p:cNvPr>
          <p:cNvSpPr txBox="1"/>
          <p:nvPr/>
        </p:nvSpPr>
        <p:spPr>
          <a:xfrm>
            <a:off x="90525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828975-147C-D4A2-1379-383595841CB2}"/>
              </a:ext>
            </a:extLst>
          </p:cNvPr>
          <p:cNvSpPr txBox="1"/>
          <p:nvPr/>
        </p:nvSpPr>
        <p:spPr>
          <a:xfrm>
            <a:off x="9434159" y="4301802"/>
            <a:ext cx="2007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F8FC"/>
                </a:solidFill>
                <a:latin typeface="Aptos"/>
              </a:defRPr>
            </a:pPr>
            <a:r>
              <a:rPr lang="en-US" sz="1600" dirty="0">
                <a:solidFill>
                  <a:srgbClr val="192332"/>
                </a:solidFill>
              </a:rPr>
              <a:t>Musrat Jahan Afrin</a:t>
            </a:r>
            <a:endParaRPr sz="1600" dirty="0">
              <a:solidFill>
                <a:srgbClr val="19233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77DBEB-F829-DC4C-C4ED-5749974AA427}"/>
              </a:ext>
            </a:extLst>
          </p:cNvPr>
          <p:cNvSpPr txBox="1"/>
          <p:nvPr/>
        </p:nvSpPr>
        <p:spPr>
          <a:xfrm>
            <a:off x="3995928" y="4233672"/>
            <a:ext cx="15819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Samian hussan </a:t>
            </a:r>
          </a:p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endParaRPr dirty="0">
              <a:solidFill>
                <a:srgbClr val="19233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C1839E-DF55-2236-8CE6-F331C0A3330E}"/>
              </a:ext>
            </a:extLst>
          </p:cNvPr>
          <p:cNvSpPr txBox="1"/>
          <p:nvPr/>
        </p:nvSpPr>
        <p:spPr>
          <a:xfrm>
            <a:off x="3789612" y="469522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ID:0182320012101358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14B0C-2497-EAEF-1B45-DD1EF5D9611C}"/>
              </a:ext>
            </a:extLst>
          </p:cNvPr>
          <p:cNvSpPr txBox="1"/>
          <p:nvPr/>
        </p:nvSpPr>
        <p:spPr>
          <a:xfrm>
            <a:off x="6527142" y="4679925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ID:0182320012101333</a:t>
            </a:r>
            <a:endParaRPr lang="en-US" sz="1400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B1BB913-D8E4-4F32-D0C4-2490EF11F003}"/>
              </a:ext>
            </a:extLst>
          </p:cNvPr>
          <p:cNvSpPr/>
          <p:nvPr/>
        </p:nvSpPr>
        <p:spPr>
          <a:xfrm>
            <a:off x="4594860" y="5444157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48EF8C-88DA-980E-740D-9FBFB7D06B78}"/>
              </a:ext>
            </a:extLst>
          </p:cNvPr>
          <p:cNvSpPr/>
          <p:nvPr/>
        </p:nvSpPr>
        <p:spPr>
          <a:xfrm>
            <a:off x="4732020" y="5608749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1D7791-3D4F-9839-E726-030F53C762D8}"/>
              </a:ext>
            </a:extLst>
          </p:cNvPr>
          <p:cNvSpPr txBox="1"/>
          <p:nvPr/>
        </p:nvSpPr>
        <p:spPr>
          <a:xfrm>
            <a:off x="4732020" y="5700189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73506A-5E94-624C-3705-BC0772745D47}"/>
              </a:ext>
            </a:extLst>
          </p:cNvPr>
          <p:cNvSpPr txBox="1"/>
          <p:nvPr/>
        </p:nvSpPr>
        <p:spPr>
          <a:xfrm>
            <a:off x="5190591" y="5623560"/>
            <a:ext cx="18105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 lang="en-US" sz="1600" dirty="0" err="1">
                <a:solidFill>
                  <a:srgbClr val="192332"/>
                </a:solidFill>
              </a:rPr>
              <a:t>Sristy</a:t>
            </a:r>
            <a:r>
              <a:rPr lang="en-US" sz="1600" dirty="0">
                <a:solidFill>
                  <a:srgbClr val="192332"/>
                </a:solidFill>
              </a:rPr>
              <a:t> Rani Deb </a:t>
            </a:r>
            <a:endParaRPr sz="1600" dirty="0">
              <a:solidFill>
                <a:srgbClr val="192332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DF04B7-C1EC-DFD7-F6F4-B5107DE78B46}"/>
              </a:ext>
            </a:extLst>
          </p:cNvPr>
          <p:cNvSpPr txBox="1"/>
          <p:nvPr/>
        </p:nvSpPr>
        <p:spPr>
          <a:xfrm>
            <a:off x="4919021" y="6041166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ID:0182320012101380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ECA663-8079-D13C-2E52-790465D7D8FA}"/>
              </a:ext>
            </a:extLst>
          </p:cNvPr>
          <p:cNvSpPr txBox="1"/>
          <p:nvPr/>
        </p:nvSpPr>
        <p:spPr>
          <a:xfrm>
            <a:off x="9254115" y="4690873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ID:0182320012101324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5E7347-D17E-CA58-7590-AF7E832BF138}"/>
              </a:ext>
            </a:extLst>
          </p:cNvPr>
          <p:cNvSpPr txBox="1"/>
          <p:nvPr/>
        </p:nvSpPr>
        <p:spPr>
          <a:xfrm>
            <a:off x="4114285" y="2785802"/>
            <a:ext cx="9876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4F8FC"/>
                </a:solidFill>
                <a:latin typeface="Aptos Display"/>
              </a:defRPr>
            </a:pPr>
            <a:r>
              <a:rPr lang="en-US" sz="3200" u="sng" dirty="0">
                <a:solidFill>
                  <a:srgbClr val="192332"/>
                </a:solidFill>
              </a:rPr>
              <a:t>TEAM MEMBERS  </a:t>
            </a:r>
            <a:endParaRPr sz="3200" u="sng" dirty="0">
              <a:solidFill>
                <a:srgbClr val="1923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36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5DDC1"/>
                </a:solidFill>
                <a:latin typeface="Aptos"/>
              </a:defRPr>
            </a:pPr>
            <a:r>
              <a:rPr dirty="0">
                <a:solidFill>
                  <a:srgbClr val="192332"/>
                </a:solidFill>
              </a:rPr>
              <a:t>DEEP LEARNING • MEDICAL IMAGE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Brain Tumor MRI</a:t>
            </a:r>
            <a:br/>
            <a:r>
              <a:rPr>
                <a:solidFill>
                  <a:srgbClr val="192332"/>
                </a:solidFill>
              </a:rPr>
              <a:t>Classification, Segmentation &amp; 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An end-to-end, segmentation-guided and explainable MRI analysis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42245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45445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</a:t>
            </a:r>
          </a:p>
        </p:txBody>
      </p:sp>
      <p:sp>
        <p:nvSpPr>
          <p:cNvPr id="15" name="Chevron 14"/>
          <p:cNvSpPr/>
          <p:nvPr/>
        </p:nvSpPr>
        <p:spPr>
          <a:xfrm>
            <a:off x="3063240" y="45079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290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66160" y="423367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42245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45445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LOCALIZE</a:t>
            </a:r>
          </a:p>
        </p:txBody>
      </p:sp>
      <p:sp>
        <p:nvSpPr>
          <p:cNvPr id="21" name="Chevron 20"/>
          <p:cNvSpPr/>
          <p:nvPr/>
        </p:nvSpPr>
        <p:spPr>
          <a:xfrm>
            <a:off x="5806440" y="45079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722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09360" y="423367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42245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4-CLASS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45445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PREDICT</a:t>
            </a:r>
          </a:p>
        </p:txBody>
      </p:sp>
      <p:sp>
        <p:nvSpPr>
          <p:cNvPr id="27" name="Chevron 26"/>
          <p:cNvSpPr/>
          <p:nvPr/>
        </p:nvSpPr>
        <p:spPr>
          <a:xfrm>
            <a:off x="8549640" y="45079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15400" y="40690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52560" y="423367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0" y="43251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42245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45445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70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Dataset Audit  →  Preprocess  →  Segment  →  Classify  →  Explain  →  Validate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01 • PROJECT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From raw MRI to a trustworthy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notebook implements a complete research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31343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30428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6243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Download + structure</a:t>
            </a:r>
          </a:p>
        </p:txBody>
      </p:sp>
      <p:sp>
        <p:nvSpPr>
          <p:cNvPr id="15" name="Chevron 14"/>
          <p:cNvSpPr/>
          <p:nvPr/>
        </p:nvSpPr>
        <p:spPr>
          <a:xfrm>
            <a:off x="2670048" y="258775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79" y="214884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63239" y="231343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39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30428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6243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Integrity + leakage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5001768" y="258775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57800" y="214884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94960" y="231343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230428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26243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mask + ROI</a:t>
            </a:r>
          </a:p>
        </p:txBody>
      </p:sp>
      <p:sp>
        <p:nvSpPr>
          <p:cNvPr id="27" name="Chevron 26"/>
          <p:cNvSpPr/>
          <p:nvPr/>
        </p:nvSpPr>
        <p:spPr>
          <a:xfrm>
            <a:off x="7333488" y="258775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89519" y="214884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26679" y="231343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230428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26243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4-class diagnosis</a:t>
            </a:r>
          </a:p>
        </p:txBody>
      </p:sp>
      <p:sp>
        <p:nvSpPr>
          <p:cNvPr id="33" name="Chevron 32"/>
          <p:cNvSpPr/>
          <p:nvPr/>
        </p:nvSpPr>
        <p:spPr>
          <a:xfrm>
            <a:off x="9665208" y="258775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21240" y="214884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58400" y="231343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230428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3032" y="26243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Grad-CAM++ + trust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4617720"/>
            <a:ext cx="30175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0120" y="4617720"/>
            <a:ext cx="50292" cy="100584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43000" y="4782312"/>
            <a:ext cx="2697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Core tasks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184648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 + classification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4617720"/>
            <a:ext cx="30175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26280" y="4617720"/>
            <a:ext cx="50292" cy="100584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09160" y="4782312"/>
            <a:ext cx="2697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Proposed idea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5184648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 multi-task learning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4617720"/>
            <a:ext cx="30175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92440" y="4617720"/>
            <a:ext cx="50292" cy="1005840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19" y="4782312"/>
            <a:ext cx="2697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19" y="5184648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 + causal + 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02 •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Why analyze brain tumors from MRI?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project combines localization, diagnosis and explanation in one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3429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50292" cy="150876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219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Clinical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 provides detailed brain-tissue information, but interpretation depends on expert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3429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50292" cy="150876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219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Research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 model should identify the tumor region and classify the tumor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057400"/>
            <a:ext cx="34290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2057400"/>
            <a:ext cx="50292" cy="150876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22219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Project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624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Move beyond accuracy toward tumor-focused and interpretable 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2194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473659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82803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72744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Brain MRI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04748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Raw image</a:t>
            </a:r>
          </a:p>
        </p:txBody>
      </p:sp>
      <p:sp>
        <p:nvSpPr>
          <p:cNvPr id="28" name="Chevron 27"/>
          <p:cNvSpPr/>
          <p:nvPr/>
        </p:nvSpPr>
        <p:spPr>
          <a:xfrm>
            <a:off x="3154680" y="4983480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566160" y="4572000"/>
            <a:ext cx="2194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03320" y="473659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482803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472744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504748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Where?</a:t>
            </a:r>
          </a:p>
        </p:txBody>
      </p:sp>
      <p:sp>
        <p:nvSpPr>
          <p:cNvPr id="34" name="Chevron 33"/>
          <p:cNvSpPr/>
          <p:nvPr/>
        </p:nvSpPr>
        <p:spPr>
          <a:xfrm>
            <a:off x="5897880" y="4983480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09360" y="4572000"/>
            <a:ext cx="2194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46520" y="473659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82803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72744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 Classes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504748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What type?</a:t>
            </a:r>
          </a:p>
        </p:txBody>
      </p:sp>
      <p:sp>
        <p:nvSpPr>
          <p:cNvPr id="40" name="Chevron 39"/>
          <p:cNvSpPr/>
          <p:nvPr/>
        </p:nvSpPr>
        <p:spPr>
          <a:xfrm>
            <a:off x="8641080" y="4983480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52560" y="4572000"/>
            <a:ext cx="2194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89720" y="473659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9720" y="482803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4352" y="472744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Grad-CAM++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504748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03 •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Brain Tumor MRI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Separate classification and segmentation task folders are 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5,000 train • 1,000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4,793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3,933 train • 860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Glioma • Meningioma • Pituitary • No Tumor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256×256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3-channel MRI</a:t>
            </a:r>
          </a:p>
        </p:txBody>
      </p:sp>
      <p:pic>
        <p:nvPicPr>
          <p:cNvPr id="26" name="Picture 25" descr="cell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3320"/>
            <a:ext cx="5394960" cy="2468880"/>
          </a:xfrm>
          <a:prstGeom prst="rect">
            <a:avLst/>
          </a:prstGeom>
        </p:spPr>
      </p:pic>
      <p:pic>
        <p:nvPicPr>
          <p:cNvPr id="27" name="Picture 26" descr="cell4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03320"/>
            <a:ext cx="50292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04 •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Audit first — train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Integrity and cross-task consistency are checked before experiments.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50292" cy="123444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File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Corrupted / unreadable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50292" cy="123444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Exact + near-duplicate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0574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2057400"/>
            <a:ext cx="50292" cy="1234440"/>
          </a:xfrm>
          <a:prstGeom prst="rect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6243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Train/test independence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657600"/>
            <a:ext cx="50292" cy="123444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8221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Image–mask pairing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245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Correct correspondence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6576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657600"/>
            <a:ext cx="50292" cy="1234440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245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Valid binary masks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65760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657600"/>
            <a:ext cx="50292" cy="123444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38221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Cross-task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224528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Classification ↔ segmentation</a:t>
            </a:r>
          </a:p>
        </p:txBody>
      </p:sp>
      <p:pic>
        <p:nvPicPr>
          <p:cNvPr id="34" name="Picture 33" descr="cell6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03520"/>
            <a:ext cx="5212080" cy="123444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263640" y="5257800"/>
            <a:ext cx="48006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5257800"/>
            <a:ext cx="50292" cy="132588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54223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Audit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824728"/>
            <a:ext cx="4480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Clean + validated + leakage-aware dataset ready for reproducible experiments.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05 •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Standardizing MRI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All models use a consistent 256×256 representation.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26771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256 × 256</a:t>
            </a:r>
          </a:p>
        </p:txBody>
      </p:sp>
      <p:sp>
        <p:nvSpPr>
          <p:cNvPr id="15" name="Chevron 14"/>
          <p:cNvSpPr/>
          <p:nvPr/>
        </p:nvSpPr>
        <p:spPr>
          <a:xfrm>
            <a:off x="267004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79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63239" y="226771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39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Intensity</a:t>
            </a:r>
          </a:p>
        </p:txBody>
      </p:sp>
      <p:sp>
        <p:nvSpPr>
          <p:cNvPr id="21" name="Chevron 20"/>
          <p:cNvSpPr/>
          <p:nvPr/>
        </p:nvSpPr>
        <p:spPr>
          <a:xfrm>
            <a:off x="500176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57800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94960" y="226771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Binary tumor mask</a:t>
            </a:r>
          </a:p>
        </p:txBody>
      </p:sp>
      <p:sp>
        <p:nvSpPr>
          <p:cNvPr id="27" name="Chevron 26"/>
          <p:cNvSpPr/>
          <p:nvPr/>
        </p:nvSpPr>
        <p:spPr>
          <a:xfrm>
            <a:off x="733348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89519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26679" y="226771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Augment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Training-only</a:t>
            </a:r>
          </a:p>
        </p:txBody>
      </p:sp>
      <p:sp>
        <p:nvSpPr>
          <p:cNvPr id="33" name="Chevron 32"/>
          <p:cNvSpPr/>
          <p:nvPr/>
        </p:nvSpPr>
        <p:spPr>
          <a:xfrm>
            <a:off x="966520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21240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58400" y="2267712"/>
            <a:ext cx="384048" cy="384048"/>
          </a:xfrm>
          <a:prstGeom prst="ellipse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303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Leakage-aware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069080"/>
            <a:ext cx="30175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8992" y="421538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 TENSOR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489704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 × 256 × 256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965192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Model input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4069080"/>
            <a:ext cx="30175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36592" y="421538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 TENSOR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6592" y="4489704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 × 256 × 256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4965192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Binary target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4069080"/>
            <a:ext cx="30175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94192" y="4215384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489704"/>
            <a:ext cx="2688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965192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Reproducibility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 → Resize → Normalize → Augment →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06 •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U-Net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Pixel-level tumor localization establishes the segmentation 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" y="226771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</a:t>
            </a:r>
          </a:p>
        </p:txBody>
      </p:sp>
      <p:sp>
        <p:nvSpPr>
          <p:cNvPr id="15" name="Chevron 14"/>
          <p:cNvSpPr/>
          <p:nvPr/>
        </p:nvSpPr>
        <p:spPr>
          <a:xfrm>
            <a:off x="257860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34639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71799" y="226771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799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Features</a:t>
            </a:r>
          </a:p>
        </p:txBody>
      </p:sp>
      <p:sp>
        <p:nvSpPr>
          <p:cNvPr id="21" name="Chevron 20"/>
          <p:cNvSpPr/>
          <p:nvPr/>
        </p:nvSpPr>
        <p:spPr>
          <a:xfrm>
            <a:off x="4910327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66359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03520" y="226771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1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Bottleneck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1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Context</a:t>
            </a:r>
          </a:p>
        </p:txBody>
      </p:sp>
      <p:sp>
        <p:nvSpPr>
          <p:cNvPr id="27" name="Chevron 26"/>
          <p:cNvSpPr/>
          <p:nvPr/>
        </p:nvSpPr>
        <p:spPr>
          <a:xfrm>
            <a:off x="7242048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79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35240" y="226771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524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1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Decoder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1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Reconstruction</a:t>
            </a:r>
          </a:p>
        </p:txBody>
      </p:sp>
      <p:sp>
        <p:nvSpPr>
          <p:cNvPr id="33" name="Chevron 32"/>
          <p:cNvSpPr/>
          <p:nvPr/>
        </p:nvSpPr>
        <p:spPr>
          <a:xfrm>
            <a:off x="9573767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29800" y="2103120"/>
            <a:ext cx="201168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66960" y="226771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6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1592" y="2258568"/>
            <a:ext cx="1261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2" y="257860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160520"/>
            <a:ext cx="31089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" y="4160520"/>
            <a:ext cx="50292" cy="114300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" y="43251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72744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BCEWithLogitsLoss + DiceLoss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4160520"/>
            <a:ext cx="31089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26280" y="4160520"/>
            <a:ext cx="50292" cy="114300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09160" y="43251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Optimizer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72744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AdamW • LR 1e-4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160520"/>
            <a:ext cx="31089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38160" y="4160520"/>
            <a:ext cx="50292" cy="114300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0" y="43251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Selection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727448"/>
            <a:ext cx="2788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validation Dice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07 • ADVANCED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U-Net++ + ResNet34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Nested skip connections provide richer multi-scale feature 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65960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12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965960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2112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65960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112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2112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65960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2112264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807208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95351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2807208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6040" y="295351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07208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295351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807208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95351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807208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953512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648456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79476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3648456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379476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648456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79476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648456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379476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648456"/>
            <a:ext cx="1325880" cy="512064"/>
          </a:xfrm>
          <a:prstGeom prst="roundRect">
            <a:avLst/>
          </a:prstGeom>
          <a:solidFill>
            <a:srgbClr val="EEF2F6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79" y="379476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ENCODER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NESTED SKIPS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DECODER → MASK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257800"/>
            <a:ext cx="310896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8992" y="5404104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67842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86.66%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6153912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independent segmentation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5257800"/>
            <a:ext cx="310896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90872" y="5404104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IOU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567842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79.91%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6153912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independent segmentation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5257800"/>
            <a:ext cx="310896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5404104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ENCODER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567842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ResNet34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6153912"/>
            <a:ext cx="2779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ImageNet pretrained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08 •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Four-class brain tumor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Two transfer-learning backbones are compared.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2487168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965960"/>
            <a:ext cx="50292" cy="105156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130552"/>
            <a:ext cx="2167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GLIOMA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32888"/>
            <a:ext cx="2167128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 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965960"/>
            <a:ext cx="2487168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965960"/>
            <a:ext cx="50292" cy="105156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2130552"/>
            <a:ext cx="2167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MENINGIOMA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32888"/>
            <a:ext cx="2167128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 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965960"/>
            <a:ext cx="2487168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1072" y="1965960"/>
            <a:ext cx="50292" cy="105156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2130552"/>
            <a:ext cx="2167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PITUITARY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532888"/>
            <a:ext cx="2167128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 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1965960"/>
            <a:ext cx="2487168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07424" y="1965960"/>
            <a:ext cx="50292" cy="1051560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90304" y="2130552"/>
            <a:ext cx="2167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NO TUMOR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532888"/>
            <a:ext cx="2167128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 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94760"/>
            <a:ext cx="43891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794760"/>
            <a:ext cx="50292" cy="128016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95935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EfficientNet-B0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61688"/>
            <a:ext cx="4069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ImageNet pretrained • fine-tuning • early stopping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3794760"/>
            <a:ext cx="237744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88152" y="3941064"/>
            <a:ext cx="2048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8152" y="4215384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4690872"/>
            <a:ext cx="2048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794760"/>
            <a:ext cx="237744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39912" y="3941064"/>
            <a:ext cx="2048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MACRO-F1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4215384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4690872"/>
            <a:ext cx="2048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Reported test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Evaluation: Accuracy • Macro-F1 • MCC • ROC-AUC • Confusion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09 • SECOND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ConvNeXt-Tiny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 modern convolutional backbone provides a strong comparison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30428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2432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</a:t>
            </a:r>
          </a:p>
        </p:txBody>
      </p:sp>
      <p:sp>
        <p:nvSpPr>
          <p:cNvPr id="15" name="Chevron 14"/>
          <p:cNvSpPr/>
          <p:nvPr/>
        </p:nvSpPr>
        <p:spPr>
          <a:xfrm>
            <a:off x="3182112" y="257860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20440" y="214884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57600" y="231343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230428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ConvNeXt-Tiny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262432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Deep features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925312" y="257860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63640" y="214884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231343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1" y="230428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Global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1" y="262432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Representation</a:t>
            </a:r>
          </a:p>
        </p:txBody>
      </p:sp>
      <p:sp>
        <p:nvSpPr>
          <p:cNvPr id="27" name="Chevron 26"/>
          <p:cNvSpPr/>
          <p:nvPr/>
        </p:nvSpPr>
        <p:spPr>
          <a:xfrm>
            <a:off x="8668512" y="257860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06840" y="214884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0" y="231343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240487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30428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4-Class 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62432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Prediction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251960"/>
            <a:ext cx="320040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93392" y="4398264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TEST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4672584"/>
            <a:ext cx="2871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98.90%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5148072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Strong baseline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4251960"/>
            <a:ext cx="320040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50992" y="4398264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MACRO-F1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992" y="4672584"/>
            <a:ext cx="2871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5148072"/>
            <a:ext cx="2871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Same macro-F1 as EfficientNet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4251960"/>
            <a:ext cx="219456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98280" y="4251960"/>
            <a:ext cx="50292" cy="1207008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59" y="441655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Takeaway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59" y="4818888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EfficientNet-B0 has the highest reported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10 • MODEL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Classification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Official test performance reported by the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57400"/>
            <a:ext cx="1056132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2860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MACRO-F1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799" y="22860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EfficientNet-B0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432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7432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9" y="27432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7355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ConvNeXt-Tiny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7355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98.90%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27355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799" y="327355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Strong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0390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0390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97.80%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380390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97.95%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799" y="380390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Proposed multi-task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9204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503834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31266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78815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EfficientNet-B0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89204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90872" y="503834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MACRO-F1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31266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99.04%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578815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 / ConvNeXt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89204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2752" y="503834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PROPOSED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531266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97.80%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78815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Segmentation-guided multi-task learning connects tumor localization with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1993392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" y="226771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258568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FULL 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5786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Global context</a:t>
            </a:r>
          </a:p>
        </p:txBody>
      </p:sp>
      <p:sp>
        <p:nvSpPr>
          <p:cNvPr id="15" name="Chevron 14"/>
          <p:cNvSpPr/>
          <p:nvPr/>
        </p:nvSpPr>
        <p:spPr>
          <a:xfrm>
            <a:off x="2331720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70632" y="2103120"/>
            <a:ext cx="1993392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07792" y="226771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7792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258568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SHARED 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5786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ConvNeXt-Tiny</a:t>
            </a:r>
          </a:p>
        </p:txBody>
      </p:sp>
      <p:sp>
        <p:nvSpPr>
          <p:cNvPr id="21" name="Chevron 20"/>
          <p:cNvSpPr/>
          <p:nvPr/>
        </p:nvSpPr>
        <p:spPr>
          <a:xfrm>
            <a:off x="4690872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29784" y="2103120"/>
            <a:ext cx="1993392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66944" y="226771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66944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1576" y="2258568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1576" y="25786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 decoder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88936" y="2103120"/>
            <a:ext cx="1993392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26096" y="226771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26096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2258568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FEATURE FUSION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5786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Global + tumor</a:t>
            </a:r>
          </a:p>
        </p:txBody>
      </p:sp>
      <p:sp>
        <p:nvSpPr>
          <p:cNvPr id="33" name="Chevron 32"/>
          <p:cNvSpPr/>
          <p:nvPr/>
        </p:nvSpPr>
        <p:spPr>
          <a:xfrm>
            <a:off x="9409176" y="254203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48088" y="2103120"/>
            <a:ext cx="1993392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85248" y="226771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85248" y="235915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258568"/>
            <a:ext cx="12435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4-CLASS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578608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Final diagnosis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160520"/>
            <a:ext cx="31546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" y="4160520"/>
            <a:ext cx="50292" cy="114300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" y="4325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 branch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727448"/>
            <a:ext cx="2834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Predict tumor mask / ROI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4160520"/>
            <a:ext cx="31546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26280" y="4160520"/>
            <a:ext cx="50292" cy="114300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09160" y="4325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Classification branch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727448"/>
            <a:ext cx="2834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Use global + ROI-guided features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160520"/>
            <a:ext cx="31546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38160" y="4160520"/>
            <a:ext cx="50292" cy="1143000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0" y="4325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Joint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727448"/>
            <a:ext cx="2834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Optimize both tasks together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WHERE IS THE TUMOR?  →  WHAT TYPE IS IT?  →  WHY DID THE MODEL DECIDE?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Consistent and reproducible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Training configuration is explicitly defined in the notebook.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50292" cy="1170432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AdamW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8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Optimizer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50292" cy="117043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8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Learning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05740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2057400"/>
            <a:ext cx="50292" cy="1170432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1e-4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624328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Weight decay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6616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566160"/>
            <a:ext cx="50292" cy="1170432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730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ReduceLROnPlateau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33087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Scheduler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56616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566160"/>
            <a:ext cx="50292" cy="1170432"/>
          </a:xfrm>
          <a:prstGeom prst="rect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730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Early stopping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33087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Patience =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566160"/>
            <a:ext cx="333756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566160"/>
            <a:ext cx="50292" cy="117043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3730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133087"/>
            <a:ext cx="3017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Mixed 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 selection → validation Dice • Final evaluation → untouched official test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13 • VISUAL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Expert tumor mask on MRI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notebook visualizes the MRI, expert mask and overlay.</a:t>
            </a:r>
          </a:p>
        </p:txBody>
      </p:sp>
      <p:pic>
        <p:nvPicPr>
          <p:cNvPr id="10" name="Picture 9" descr="cell7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7315200" cy="3611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2057400"/>
            <a:ext cx="31546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057400"/>
            <a:ext cx="50292" cy="109728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2219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2432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Original brain MRI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1546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383280"/>
            <a:ext cx="50292" cy="109728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3547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Expert 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95020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Pixel-level tumor annotation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709160"/>
            <a:ext cx="315468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4709160"/>
            <a:ext cx="50292" cy="109728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48737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27608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region highlighted on MRI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14 •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Grad-CAM++ — making the decision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predicted class is converted into a spatial relevance heatmap.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" y="217627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1671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4871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Input image</a:t>
            </a:r>
          </a:p>
        </p:txBody>
      </p:sp>
      <p:sp>
        <p:nvSpPr>
          <p:cNvPr id="15" name="Chevron 14"/>
          <p:cNvSpPr/>
          <p:nvPr/>
        </p:nvSpPr>
        <p:spPr>
          <a:xfrm>
            <a:off x="2926080" y="24505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19272" y="20116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56432" y="217627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6432" y="22677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1063" y="21671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1063" y="24871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Prediction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5742432" y="24505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35624" y="20116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72784" y="217627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22677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21671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GRAD-CAM++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24871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Relevance map</a:t>
            </a:r>
          </a:p>
        </p:txBody>
      </p:sp>
      <p:sp>
        <p:nvSpPr>
          <p:cNvPr id="27" name="Chevron 26"/>
          <p:cNvSpPr/>
          <p:nvPr/>
        </p:nvSpPr>
        <p:spPr>
          <a:xfrm>
            <a:off x="8558784" y="2450592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51976" y="2011680"/>
            <a:ext cx="233172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89136" y="217627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89136" y="2267712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2167128"/>
            <a:ext cx="1581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2487168"/>
            <a:ext cx="1581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Important region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069080"/>
            <a:ext cx="306324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400" y="4069080"/>
            <a:ext cx="50292" cy="118872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4233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What it shows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63600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Which spatial regions influence the selected class?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80" y="4069080"/>
            <a:ext cx="306324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26280" y="4069080"/>
            <a:ext cx="50292" cy="118872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09160" y="4233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63600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Dice • IoU • Pointing Game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069080"/>
            <a:ext cx="306324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0" y="4069080"/>
            <a:ext cx="50292" cy="1188720"/>
          </a:xfrm>
          <a:prstGeom prst="rect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4233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Causal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63600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occlusion vs matched background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15 • QUANTITATIVE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Explanation quality was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 stratified 150-image subset was selected before observing Grad-CAM++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 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0.0650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Overlap with tumor 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 IOU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0.0417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Spatial overlap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SUBSET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50 × 3 MRI planes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05740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220370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FAITHFULNESS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4780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0.3176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95351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vs background margin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31546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977639"/>
            <a:ext cx="50292" cy="128016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Pointing Game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44568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Checks whether maximum activation lands inside the tumor region.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977639"/>
            <a:ext cx="31546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26280" y="3977639"/>
            <a:ext cx="50292" cy="1280160"/>
          </a:xfrm>
          <a:prstGeom prst="rect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Occlusion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544568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Removes tumor information and measures probability change.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977639"/>
            <a:ext cx="31546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3977639"/>
            <a:ext cx="50292" cy="128016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Background Occlusion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544568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Matched background removal provides a causal comparison.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16 • TRUST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Trust beyond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study checks calibration, negative controls and cross-plane robustness.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15798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 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3230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0.006844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90779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01168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15798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CONVNEXT 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43230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0.009868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90779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Calibration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201168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15798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 ECE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43230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0.018729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290779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Calibration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011680"/>
            <a:ext cx="233172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31352" y="2157984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NO-TUMOR EMPTY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43230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98.57%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907792"/>
            <a:ext cx="2002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140 official test images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886200"/>
            <a:ext cx="31546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886200"/>
            <a:ext cx="50292" cy="132588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05079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Cross-plane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53128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Axial 97.99%</a:t>
            </a:r>
            <a:br/>
            <a:r>
              <a:rPr>
                <a:solidFill>
                  <a:srgbClr val="192332"/>
                </a:solidFill>
              </a:rPr>
              <a:t>Coronal 98.36%</a:t>
            </a:r>
            <a:br/>
            <a:r>
              <a:rPr>
                <a:solidFill>
                  <a:srgbClr val="192332"/>
                </a:solidFill>
              </a:rPr>
              <a:t>Sagittal 96.97%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886200"/>
            <a:ext cx="31546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26280" y="3886200"/>
            <a:ext cx="50292" cy="1325880"/>
          </a:xfrm>
          <a:prstGeom prst="rect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405079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Negative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453128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False tumor detection = 1.43%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86200"/>
            <a:ext cx="31546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3886200"/>
            <a:ext cx="50292" cy="132588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405079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Interpretation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53128"/>
            <a:ext cx="28346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Reliability is evaluated separately from raw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17 • SEGMENTATION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Which model localizes the tumor best?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Official test Dice and IoU.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11680"/>
            <a:ext cx="10424160" cy="2331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IOU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U-Net + ResNet34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85.54%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889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78.02%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U-Net++ + ResNet34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86.66%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291839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79.91%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947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947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83.83%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947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75.62%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490118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DICE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7550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86.66%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65099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U-Net++ + ResNet34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75488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90872" y="490118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IOU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517550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79.91%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565099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U-Net++ + ResNet34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754880"/>
            <a:ext cx="3154680" cy="1207008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4901184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175504"/>
            <a:ext cx="28254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83.83%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5650992"/>
            <a:ext cx="2825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Joint multi-task Dice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18 •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What did the implementation achieve?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Main findings from the reported experiments.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75688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0008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EfficientNet-B0 → 99.00%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1762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6F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75688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Best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50008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U-Net++ + ResNet34 → 86.66% Dice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81528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91256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Proposed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6557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TrustSeg-XAI combines segmentation +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81528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29183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7BE4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91256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465576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Grad-CAM++ + overlap + causal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97096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4074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65C6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306824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581144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Calibration + controls + cross-plane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97096"/>
            <a:ext cx="50749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4074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C97FF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06824"/>
            <a:ext cx="4069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Complete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81144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Audit → preprocess → train → compare → 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150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Key message: predictive performance, explanation quality and reliability are different dimensions.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858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DC1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19 •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  <a:latin typeface="Aptos Display"/>
              </a:defRPr>
            </a:pPr>
            <a:r>
              <a:rPr>
                <a:solidFill>
                  <a:srgbClr val="192332"/>
                </a:solidFill>
              </a:rPr>
              <a:t>A complete, explainable Brain Tumor MRI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361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The project moves from data validation to prediction and trust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30552"/>
            <a:ext cx="384048" cy="384048"/>
          </a:xfrm>
          <a:prstGeom prst="ellipse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Audit</a:t>
            </a:r>
          </a:p>
        </p:txBody>
      </p:sp>
      <p:sp>
        <p:nvSpPr>
          <p:cNvPr id="15" name="Chevron 14"/>
          <p:cNvSpPr/>
          <p:nvPr/>
        </p:nvSpPr>
        <p:spPr>
          <a:xfrm>
            <a:off x="2011680" y="239572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13432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50592" y="213055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50592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PREPROCESS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Standardize</a:t>
            </a:r>
          </a:p>
        </p:txBody>
      </p:sp>
      <p:sp>
        <p:nvSpPr>
          <p:cNvPr id="21" name="Chevron 20"/>
          <p:cNvSpPr/>
          <p:nvPr/>
        </p:nvSpPr>
        <p:spPr>
          <a:xfrm>
            <a:off x="4005072" y="239572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06824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43984" y="2130552"/>
            <a:ext cx="384048" cy="384048"/>
          </a:xfrm>
          <a:prstGeom prst="ellipse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43984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Tumor ROI</a:t>
            </a:r>
          </a:p>
        </p:txBody>
      </p:sp>
      <p:sp>
        <p:nvSpPr>
          <p:cNvPr id="27" name="Chevron 26"/>
          <p:cNvSpPr/>
          <p:nvPr/>
        </p:nvSpPr>
        <p:spPr>
          <a:xfrm>
            <a:off x="5998464" y="239572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00216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37376" y="2130552"/>
            <a:ext cx="384048" cy="384048"/>
          </a:xfrm>
          <a:prstGeom prst="ellipse">
            <a:avLst/>
          </a:prstGeom>
          <a:solidFill>
            <a:srgbClr val="F7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8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4 classes</a:t>
            </a:r>
          </a:p>
        </p:txBody>
      </p:sp>
      <p:sp>
        <p:nvSpPr>
          <p:cNvPr id="33" name="Chevron 32"/>
          <p:cNvSpPr/>
          <p:nvPr/>
        </p:nvSpPr>
        <p:spPr>
          <a:xfrm>
            <a:off x="7991856" y="239572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93608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30768" y="2130552"/>
            <a:ext cx="384048" cy="384048"/>
          </a:xfrm>
          <a:prstGeom prst="ellipse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XAI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Grad-CAM++</a:t>
            </a:r>
          </a:p>
        </p:txBody>
      </p:sp>
      <p:sp>
        <p:nvSpPr>
          <p:cNvPr id="39" name="Chevron 38"/>
          <p:cNvSpPr/>
          <p:nvPr/>
        </p:nvSpPr>
        <p:spPr>
          <a:xfrm>
            <a:off x="9985248" y="2395728"/>
            <a:ext cx="320040" cy="292608"/>
          </a:xfrm>
          <a:prstGeom prst="chevron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287000" y="1965960"/>
            <a:ext cx="1691640" cy="1170432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24160" y="2130552"/>
            <a:ext cx="384048" cy="384048"/>
          </a:xfrm>
          <a:prstGeom prst="ellipse">
            <a:avLst/>
          </a:prstGeom>
          <a:solidFill>
            <a:srgbClr val="F65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24160" y="2221991"/>
            <a:ext cx="3840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70D19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08792" y="2121408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VALIDATE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8792" y="2441448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Trust checks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3977639"/>
            <a:ext cx="31546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4400" y="3977639"/>
            <a:ext cx="50292" cy="1188720"/>
          </a:xfrm>
          <a:prstGeom prst="rect">
            <a:avLst/>
          </a:prstGeom>
          <a:solidFill>
            <a:srgbClr val="35D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728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Contribution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454456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Segmentation-guided multi-task learning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26280" y="3977639"/>
            <a:ext cx="31546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26280" y="3977639"/>
            <a:ext cx="50292" cy="1188720"/>
          </a:xfrm>
          <a:prstGeom prst="rect">
            <a:avLst/>
          </a:prstGeom>
          <a:solidFill>
            <a:srgbClr val="4C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0916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454456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Classification + segmentation + XAI + reliability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60" y="3977639"/>
            <a:ext cx="315468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27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38160" y="3977639"/>
            <a:ext cx="50292" cy="1188720"/>
          </a:xfrm>
          <a:prstGeom prst="rect">
            <a:avLst/>
          </a:prstGeom>
          <a:solidFill>
            <a:srgbClr val="9B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21040" y="41422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F8FC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Next step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454456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7A9BE"/>
                </a:solidFill>
                <a:latin typeface="Aptos"/>
              </a:defRPr>
            </a:pPr>
            <a:r>
              <a:rPr>
                <a:solidFill>
                  <a:srgbClr val="192332"/>
                </a:solidFill>
              </a:rPr>
              <a:t>External validation and larger multi-source datasets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5623560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F8FC"/>
                </a:solidFill>
                <a:latin typeface="Aptos Display"/>
              </a:defRPr>
            </a:pPr>
            <a:r>
              <a:rPr dirty="0">
                <a:solidFill>
                  <a:srgbClr val="192332"/>
                </a:solidFill>
              </a:rPr>
              <a:t>THANK YOU</a:t>
            </a:r>
            <a:br>
              <a:rPr dirty="0"/>
            </a:br>
            <a:endParaRPr dirty="0">
              <a:solidFill>
                <a:srgbClr val="19233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1255</Words>
  <Application>Microsoft Macintosh PowerPoint</Application>
  <PresentationFormat>Widescreen</PresentationFormat>
  <Paragraphs>456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samian hussan</cp:lastModifiedBy>
  <cp:revision>4</cp:revision>
  <dcterms:created xsi:type="dcterms:W3CDTF">2013-01-27T09:14:16Z</dcterms:created>
  <dcterms:modified xsi:type="dcterms:W3CDTF">2026-09-10T17:25:14Z</dcterms:modified>
  <cp:category/>
</cp:coreProperties>
</file>